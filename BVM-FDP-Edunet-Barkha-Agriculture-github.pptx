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71" r:id="rId9"/>
    <p:sldId id="27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barkhajoshi.comp@svitvasad.ac.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barkhadesai21@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841712566"/>
              </p:ext>
            </p:extLst>
          </p:nvPr>
        </p:nvGraphicFramePr>
        <p:xfrm>
          <a:off x="1299257" y="2600315"/>
          <a:ext cx="9395000" cy="2167125"/>
        </p:xfrm>
        <a:graphic>
          <a:graphicData uri="http://schemas.openxmlformats.org/drawingml/2006/table">
            <a:tbl>
              <a:tblPr>
                <a:noFill/>
                <a:tableStyleId>{72DA409A-753F-43E9-88D9-1875949E996A}</a:tableStyleId>
              </a:tblPr>
              <a:tblGrid>
                <a:gridCol w="2064875">
                  <a:extLst>
                    <a:ext uri="{9D8B030D-6E8A-4147-A177-3AD203B41FA5}">
                      <a16:colId xmlns:a16="http://schemas.microsoft.com/office/drawing/2014/main" val="20000"/>
                    </a:ext>
                  </a:extLst>
                </a:gridCol>
                <a:gridCol w="2188256">
                  <a:extLst>
                    <a:ext uri="{9D8B030D-6E8A-4147-A177-3AD203B41FA5}">
                      <a16:colId xmlns:a16="http://schemas.microsoft.com/office/drawing/2014/main" val="20001"/>
                    </a:ext>
                  </a:extLst>
                </a:gridCol>
                <a:gridCol w="3007150">
                  <a:extLst>
                    <a:ext uri="{9D8B030D-6E8A-4147-A177-3AD203B41FA5}">
                      <a16:colId xmlns:a16="http://schemas.microsoft.com/office/drawing/2014/main" val="20002"/>
                    </a:ext>
                  </a:extLst>
                </a:gridCol>
                <a:gridCol w="2134719">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a:t>Dr. Barkha Joshi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lang="en-IN" sz="1800" u="none" strike="noStrike" cap="none" dirty="0"/>
                    </a:p>
                    <a:p>
                      <a:pPr marL="0" marR="0" lvl="0" indent="0" algn="l" rtl="0">
                        <a:lnSpc>
                          <a:spcPct val="100000"/>
                        </a:lnSpc>
                        <a:spcBef>
                          <a:spcPts val="0"/>
                        </a:spcBef>
                        <a:spcAft>
                          <a:spcPts val="0"/>
                        </a:spcAft>
                        <a:buClr>
                          <a:srgbClr val="000000"/>
                        </a:buClr>
                        <a:buSzPts val="1800"/>
                        <a:buFont typeface="Arial"/>
                        <a:buNone/>
                      </a:pPr>
                      <a:endParaRPr lang="en-IN" sz="18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hlinkClick r:id="rId3"/>
                        </a:rPr>
                        <a:t>barkhajoshi.comp@svitvasad.ac.in</a:t>
                      </a: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hlinkClick r:id="rId4"/>
                        </a:rPr>
                        <a:t>barkhadesai21@gmail.com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a:t>9909002598</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Agriculture</a:t>
            </a:r>
            <a:r>
              <a:rPr lang="en-US" sz="2400" b="1" i="0" u="none" strike="noStrike" cap="none" dirty="0">
                <a:solidFill>
                  <a:srgbClr val="000000"/>
                </a:solidFill>
                <a:highlight>
                  <a:srgbClr val="FFFF00"/>
                </a:highlight>
                <a:latin typeface="Arial"/>
                <a:ea typeface="Arial"/>
                <a:cs typeface="Arial"/>
                <a:sym typeface="Arial"/>
              </a:rPr>
              <a:t>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113080" y="570134"/>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AI Agent for Smart Farming Advice</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0607040" cy="5262939"/>
          </a:xfrm>
          <a:prstGeom prst="rect">
            <a:avLst/>
          </a:prstGeom>
          <a:noFill/>
          <a:ln>
            <a:noFill/>
          </a:ln>
        </p:spPr>
        <p:txBody>
          <a:bodyPr spcFirstLastPara="1" wrap="square" lIns="91425" tIns="45700" rIns="91425" bIns="45700" anchor="t" anchorCtr="0">
            <a:spAutoFit/>
          </a:bodyPr>
          <a:lstStyle/>
          <a:p>
            <a:pPr lvl="0" algn="just"/>
            <a:r>
              <a:rPr lang="en-US" sz="1400" b="1" i="0" u="none" strike="noStrike" cap="none" dirty="0">
                <a:solidFill>
                  <a:srgbClr val="000000"/>
                </a:solidFill>
                <a:latin typeface="Arial"/>
                <a:ea typeface="Arial"/>
                <a:cs typeface="Arial"/>
                <a:sym typeface="Arial"/>
              </a:rPr>
              <a:t>Problem Statement : </a:t>
            </a:r>
            <a:r>
              <a:rPr lang="en-IN" dirty="0"/>
              <a:t>AI Agent for Smart Farming Advice</a:t>
            </a:r>
            <a:endParaRPr dirty="0"/>
          </a:p>
          <a:p>
            <a:pPr marL="0" marR="0" lvl="0" indent="0" algn="just"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lvl="0" algn="just"/>
            <a:r>
              <a:rPr lang="en-US" dirty="0"/>
              <a:t>Farmers 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pPr lvl="0" algn="just"/>
            <a:r>
              <a:rPr lang="en-US" dirty="0"/>
              <a:t>Develop an AI-powered Smart Farming Agent that provides personalized, real-time, and sustainable agricultural advice. The solution should: </a:t>
            </a:r>
          </a:p>
          <a:p>
            <a:pPr lvl="0" algn="just"/>
            <a:r>
              <a:rPr lang="en-US" dirty="0"/>
              <a:t>1. </a:t>
            </a:r>
            <a:r>
              <a:rPr lang="en-US" b="1" dirty="0"/>
              <a:t>Agricultural Knowledge Retrieval (RAG) </a:t>
            </a:r>
            <a:r>
              <a:rPr lang="en-US" dirty="0"/>
              <a:t>– Use Retrieval-Augmented Generation to  fetch best practices, crop-specific guidelines, and government advisory updates. </a:t>
            </a:r>
          </a:p>
          <a:p>
            <a:pPr lvl="0" algn="just"/>
            <a:r>
              <a:rPr lang="en-US" dirty="0"/>
              <a:t>2. </a:t>
            </a:r>
            <a:r>
              <a:rPr lang="en-US" b="1" dirty="0"/>
              <a:t>Weather &amp; Soil Insights </a:t>
            </a:r>
            <a:r>
              <a:rPr lang="en-US" dirty="0"/>
              <a:t>– Integrate real-time weather forecasts, soil health data, and  irrigation needs to optimize farm planning. </a:t>
            </a:r>
          </a:p>
          <a:p>
            <a:pPr lvl="0" algn="just"/>
            <a:r>
              <a:rPr lang="en-US" dirty="0"/>
              <a:t>3. </a:t>
            </a:r>
            <a:r>
              <a:rPr lang="en-US" b="1" dirty="0"/>
              <a:t>Pest &amp; Disease Detection </a:t>
            </a:r>
            <a:r>
              <a:rPr lang="en-US" dirty="0"/>
              <a:t>– Enable multimodal support where farmers upload crop images  for early pest/disease identification and get instant recommendations. </a:t>
            </a:r>
          </a:p>
          <a:p>
            <a:pPr lvl="0" algn="just"/>
            <a:r>
              <a:rPr lang="en-US" dirty="0"/>
              <a:t>4. </a:t>
            </a:r>
            <a:r>
              <a:rPr lang="en-US" b="1" dirty="0"/>
              <a:t>Personalized Advisory Agent </a:t>
            </a:r>
            <a:r>
              <a:rPr lang="en-US" dirty="0"/>
              <a:t>– Suggest seeds, fertilizers, irrigation schedules, and  harvesting timelines based on farmer profile and land conditions. </a:t>
            </a:r>
          </a:p>
          <a:p>
            <a:pPr lvl="0" algn="just"/>
            <a:r>
              <a:rPr lang="en-US" dirty="0"/>
              <a:t>5. </a:t>
            </a:r>
            <a:r>
              <a:rPr lang="en-US" b="1" dirty="0"/>
              <a:t>Market &amp; Cost Optimization </a:t>
            </a:r>
            <a:r>
              <a:rPr lang="en-US" dirty="0"/>
              <a:t>– Forecast demand, suggest market prices, and recommend  cost-efficient practices for better income. </a:t>
            </a:r>
          </a:p>
          <a:p>
            <a:pPr lvl="0" algn="just"/>
            <a:r>
              <a:rPr lang="en-US" dirty="0"/>
              <a:t>6. </a:t>
            </a:r>
            <a:r>
              <a:rPr lang="en-US" b="1" dirty="0"/>
              <a:t>Multi-Agent Collaboration </a:t>
            </a:r>
            <a:r>
              <a:rPr lang="en-US" dirty="0"/>
              <a:t>– </a:t>
            </a:r>
          </a:p>
          <a:p>
            <a:pPr marL="285750" lvl="1" indent="-285750" algn="just">
              <a:buFont typeface="Arial" panose="020B0604020202020204" pitchFamily="34" charset="0"/>
              <a:buChar char="•"/>
            </a:pPr>
            <a:r>
              <a:rPr lang="en-US" dirty="0"/>
              <a:t>Crop Advisory Agent </a:t>
            </a:r>
          </a:p>
          <a:p>
            <a:pPr marL="285750" lvl="1" indent="-285750" algn="just">
              <a:buFont typeface="Arial" panose="020B0604020202020204" pitchFamily="34" charset="0"/>
              <a:buChar char="•"/>
            </a:pPr>
            <a:r>
              <a:rPr lang="en-US" dirty="0"/>
              <a:t>Weather &amp; Irrigation Agent </a:t>
            </a:r>
          </a:p>
          <a:p>
            <a:pPr marL="285750" lvl="1" indent="-285750" algn="just">
              <a:buFont typeface="Arial" panose="020B0604020202020204" pitchFamily="34" charset="0"/>
              <a:buChar char="•"/>
            </a:pPr>
            <a:r>
              <a:rPr lang="en-US" dirty="0"/>
              <a:t>Pest/Disease Detection Agent </a:t>
            </a:r>
          </a:p>
          <a:p>
            <a:pPr marL="285750" lvl="1" indent="-285750" algn="just">
              <a:buFont typeface="Arial" panose="020B0604020202020204" pitchFamily="34" charset="0"/>
              <a:buChar char="•"/>
            </a:pPr>
            <a:r>
              <a:rPr lang="en-US" dirty="0"/>
              <a:t>Market Insights Agent </a:t>
            </a:r>
            <a:endParaRPr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3939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a:t>
            </a:r>
            <a:endParaRPr lang="en-US" sz="3600" b="1" dirty="0"/>
          </a:p>
          <a:p>
            <a:pPr marL="0" marR="0" lvl="0" indent="0" algn="l" rtl="0">
              <a:lnSpc>
                <a:spcPct val="100000"/>
              </a:lnSpc>
              <a:spcBef>
                <a:spcPts val="0"/>
              </a:spcBef>
              <a:spcAft>
                <a:spcPts val="0"/>
              </a:spcAft>
              <a:buNone/>
            </a:pPr>
            <a:r>
              <a:rPr lang="en-US" sz="3600" b="0" i="0" u="none" strike="noStrike" cap="none" dirty="0">
                <a:solidFill>
                  <a:srgbClr val="000000"/>
                </a:solidFill>
                <a:latin typeface="Arial"/>
                <a:ea typeface="Arial"/>
                <a:cs typeface="Arial"/>
                <a:sym typeface="Arial"/>
              </a:rPr>
              <a:t> </a:t>
            </a:r>
            <a:endParaRPr sz="3600" dirty="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dirty="0" err="1">
                <a:solidFill>
                  <a:srgbClr val="000000"/>
                </a:solidFill>
                <a:latin typeface="Arial"/>
                <a:ea typeface="Arial"/>
                <a:cs typeface="Arial"/>
                <a:sym typeface="Arial"/>
              </a:rPr>
              <a:t>LangFlow</a:t>
            </a:r>
            <a:r>
              <a:rPr lang="en-US" sz="3600" b="0" i="0" u="none" strike="noStrike" cap="none" dirty="0">
                <a:solidFill>
                  <a:srgbClr val="000000"/>
                </a:solidFill>
                <a:latin typeface="Arial"/>
                <a:ea typeface="Arial"/>
                <a:cs typeface="Arial"/>
                <a:sym typeface="Arial"/>
              </a:rPr>
              <a:t> + IBM watsonx.ai + Granite Models </a:t>
            </a:r>
            <a:endParaRPr sz="3600" dirty="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56938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US" b="1" dirty="0"/>
              <a:t>Proposed Solution: AI Agent for Smart Farming Advice</a:t>
            </a:r>
          </a:p>
          <a:p>
            <a:r>
              <a:rPr lang="en-US" dirty="0"/>
              <a:t>The proposed solution is a multi-agent </a:t>
            </a:r>
            <a:r>
              <a:rPr lang="en-US" b="1" dirty="0"/>
              <a:t>AI-powered Smart Farming Advisory System</a:t>
            </a:r>
            <a:r>
              <a:rPr lang="en-US" dirty="0"/>
              <a:t> built using </a:t>
            </a:r>
            <a:r>
              <a:rPr lang="en-US" b="1" dirty="0" err="1"/>
              <a:t>LangFlow</a:t>
            </a:r>
            <a:r>
              <a:rPr lang="en-US" dirty="0"/>
              <a:t>, </a:t>
            </a:r>
            <a:r>
              <a:rPr lang="en-US" b="1" dirty="0"/>
              <a:t>IBM watsonx.ai</a:t>
            </a:r>
            <a:r>
              <a:rPr lang="en-US" dirty="0"/>
              <a:t>, and </a:t>
            </a:r>
            <a:r>
              <a:rPr lang="en-US" b="1" dirty="0"/>
              <a:t>Granite Models</a:t>
            </a:r>
            <a:r>
              <a:rPr lang="en-US" dirty="0"/>
              <a:t> to provide personalized, real-time agricultural guidance to farmers. The system addresses critical farming challenges related to crop selection, crop vulnerabilities, soil and site preparation, cultural practices, irrigation management, pest and disease control, and market intelligence.</a:t>
            </a:r>
          </a:p>
          <a:p>
            <a:r>
              <a:rPr lang="en-US" dirty="0"/>
              <a:t>At its core, the solution leverages a </a:t>
            </a:r>
            <a:r>
              <a:rPr lang="en-US" b="1" dirty="0"/>
              <a:t>Retrieval-Augmented Generation (RAG)</a:t>
            </a:r>
            <a:r>
              <a:rPr lang="en-US" dirty="0"/>
              <a:t> pipeline to retrieve accurate and up-to-date agricultural knowledge, including crop-specific best practices, government advisories, weather information, and soil management recommendations. The platform integrates real-time weather forecasts, soil health data, and irrigation requirements to support informed decision-making and optimize farm productivity.</a:t>
            </a:r>
          </a:p>
          <a:p>
            <a:r>
              <a:rPr lang="en-US" dirty="0"/>
              <a:t>The system consists of multiple specialized AI agents:</a:t>
            </a:r>
          </a:p>
          <a:p>
            <a:r>
              <a:rPr lang="en-US" b="1" dirty="0"/>
              <a:t>Crop Advisory Agent</a:t>
            </a:r>
            <a:r>
              <a:rPr lang="en-US" dirty="0"/>
              <a:t> – Recommends suitable crops, cultivation practices, sowing schedules, and nutrient management strategies. </a:t>
            </a:r>
          </a:p>
          <a:p>
            <a:r>
              <a:rPr lang="en-US" b="1" dirty="0"/>
              <a:t>Weather &amp; Irrigation Agent</a:t>
            </a:r>
            <a:r>
              <a:rPr lang="en-US" dirty="0"/>
              <a:t> – Provides weather-based irrigation planning, rainfall forecasts, and water management recommendations. </a:t>
            </a:r>
          </a:p>
          <a:p>
            <a:r>
              <a:rPr lang="en-US" b="1" dirty="0"/>
              <a:t>Pest &amp; Disease Detection Agent</a:t>
            </a:r>
            <a:r>
              <a:rPr lang="en-US" dirty="0"/>
              <a:t> – Enables farmers to upload crop images for early pest and disease identification and receives actionable treatment recommendations. </a:t>
            </a:r>
          </a:p>
          <a:p>
            <a:r>
              <a:rPr lang="en-US" b="1" dirty="0"/>
              <a:t>Market Insights Agent</a:t>
            </a:r>
            <a:r>
              <a:rPr lang="en-US" dirty="0"/>
              <a:t> – Forecasts crop demand, provides market price trends, and suggests profitable selling strategies. </a:t>
            </a:r>
          </a:p>
          <a:p>
            <a:r>
              <a:rPr lang="en-US" b="1" dirty="0"/>
              <a:t>Input Recommendation Agent</a:t>
            </a:r>
            <a:r>
              <a:rPr lang="en-US" dirty="0"/>
              <a:t> – Suggests suitable seeds, fertilizers, pesticides, and harvesting timelines based on crop type, soil conditions, and farmer preferences. </a:t>
            </a:r>
          </a:p>
          <a:p>
            <a:r>
              <a:rPr lang="en-US" dirty="0"/>
              <a:t>The solution includes a user-friendly dashboard (built with </a:t>
            </a:r>
            <a:r>
              <a:rPr lang="en-US" b="1" dirty="0" err="1"/>
              <a:t>Streamlit</a:t>
            </a:r>
            <a:r>
              <a:rPr lang="en-US" dirty="0"/>
              <a:t> or </a:t>
            </a:r>
            <a:r>
              <a:rPr lang="en-US" b="1" dirty="0"/>
              <a:t>React</a:t>
            </a:r>
            <a:r>
              <a:rPr lang="en-US" dirty="0"/>
              <a:t>) that presents crop health status, weather alerts, irrigation schedules, disease detection results, and market insights through interactive visualizations.</a:t>
            </a:r>
          </a:p>
          <a:p>
            <a:r>
              <a:rPr lang="en-US" b="1" dirty="0" err="1"/>
              <a:t>LangFlow</a:t>
            </a:r>
            <a:r>
              <a:rPr lang="en-US" dirty="0"/>
              <a:t> orchestrates the multi-agent workflows and integrates external data sources, while </a:t>
            </a:r>
            <a:r>
              <a:rPr lang="en-US" b="1" dirty="0"/>
              <a:t>IBM watsonx.ai</a:t>
            </a:r>
            <a:r>
              <a:rPr lang="en-US" dirty="0"/>
              <a:t> provides scalable model deployment, embeddings, vector search, and AI governance capabilities. </a:t>
            </a:r>
            <a:r>
              <a:rPr lang="en-US" b="1" dirty="0"/>
              <a:t>Granite Models</a:t>
            </a:r>
            <a:r>
              <a:rPr lang="en-US" dirty="0"/>
              <a:t> power reasoning, question answering, summarization, and personalized recommendations.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1" y="863187"/>
            <a:ext cx="10818489" cy="46166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preferences, or meal details (text/voice/image).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generate personalized nutrition insights and recommendations.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b="0" i="0" u="none" strike="noStrike" cap="none" dirty="0">
                <a:solidFill>
                  <a:srgbClr val="000000"/>
                </a:solidFill>
                <a:latin typeface="Arial"/>
                <a:ea typeface="Arial"/>
                <a:cs typeface="Arial"/>
                <a:sym typeface="Arial"/>
              </a:rPr>
              <a:t>Granite-4.0-8B-Instruct → Fast, efficient for real-time diet recommendations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such as diet plans, nutritional analysis, and health suggestions.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File component - </a:t>
            </a:r>
            <a:r>
              <a:rPr lang="en-US" sz="1400" b="0" i="0" u="none" strike="noStrike" cap="none" dirty="0">
                <a:solidFill>
                  <a:srgbClr val="000000"/>
                </a:solidFill>
                <a:latin typeface="Arial"/>
                <a:ea typeface="Arial"/>
                <a:cs typeface="Arial"/>
                <a:sym typeface="Arial"/>
              </a:rPr>
              <a:t>Stores and retrieves user data, </a:t>
            </a:r>
            <a:r>
              <a:rPr lang="en-IN" sz="1400" b="0" i="0" u="none" strike="noStrike" cap="none" dirty="0">
                <a:solidFill>
                  <a:srgbClr val="000000"/>
                </a:solidFill>
                <a:latin typeface="Arial"/>
                <a:ea typeface="Arial"/>
                <a:cs typeface="Arial"/>
                <a:sym typeface="Arial"/>
              </a:rPr>
              <a:t>agriculture advisories, Soil management guides, Pest and disease management documents, Fertilizer recommendation, Weather-related agricultural guidelines, Market and pricing reports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400"/>
              <a:buFont typeface="Arial"/>
              <a:buNone/>
            </a:pP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CDFD3E09-D928-829E-33BA-1A96137C3D88}"/>
              </a:ext>
            </a:extLst>
          </p:cNvPr>
          <p:cNvPicPr>
            <a:picLocks noChangeAspect="1"/>
          </p:cNvPicPr>
          <p:nvPr/>
        </p:nvPicPr>
        <p:blipFill>
          <a:blip r:embed="rId3"/>
          <a:stretch>
            <a:fillRect/>
          </a:stretch>
        </p:blipFill>
        <p:spPr>
          <a:xfrm>
            <a:off x="537590" y="1192132"/>
            <a:ext cx="11001079" cy="50016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4603F-5092-B957-525D-D8EEF3AF547D}"/>
              </a:ext>
            </a:extLst>
          </p:cNvPr>
          <p:cNvSpPr>
            <a:spLocks noGrp="1"/>
          </p:cNvSpPr>
          <p:nvPr>
            <p:ph type="title"/>
          </p:nvPr>
        </p:nvSpPr>
        <p:spPr>
          <a:xfrm>
            <a:off x="508262" y="148310"/>
            <a:ext cx="10515600" cy="315912"/>
          </a:xfrm>
        </p:spPr>
        <p:txBody>
          <a:bodyPr>
            <a:normAutofit fontScale="90000"/>
          </a:bodyPr>
          <a:lstStyle/>
          <a:p>
            <a:r>
              <a:rPr lang="en-IN" dirty="0"/>
              <a:t>Output</a:t>
            </a:r>
          </a:p>
        </p:txBody>
      </p:sp>
      <p:pic>
        <p:nvPicPr>
          <p:cNvPr id="7" name="Picture 6">
            <a:extLst>
              <a:ext uri="{FF2B5EF4-FFF2-40B4-BE49-F238E27FC236}">
                <a16:creationId xmlns:a16="http://schemas.microsoft.com/office/drawing/2014/main" id="{8D9F9183-7608-77C6-E152-33C5B9BECC04}"/>
              </a:ext>
            </a:extLst>
          </p:cNvPr>
          <p:cNvPicPr>
            <a:picLocks noChangeAspect="1"/>
          </p:cNvPicPr>
          <p:nvPr/>
        </p:nvPicPr>
        <p:blipFill>
          <a:blip r:embed="rId2"/>
          <a:stretch>
            <a:fillRect/>
          </a:stretch>
        </p:blipFill>
        <p:spPr>
          <a:xfrm>
            <a:off x="675349" y="834711"/>
            <a:ext cx="5420651" cy="3859838"/>
          </a:xfrm>
          <a:prstGeom prst="rect">
            <a:avLst/>
          </a:prstGeom>
        </p:spPr>
      </p:pic>
      <p:pic>
        <p:nvPicPr>
          <p:cNvPr id="9" name="Picture 8">
            <a:extLst>
              <a:ext uri="{FF2B5EF4-FFF2-40B4-BE49-F238E27FC236}">
                <a16:creationId xmlns:a16="http://schemas.microsoft.com/office/drawing/2014/main" id="{05517D57-02D2-1090-3125-7ED17DF81328}"/>
              </a:ext>
            </a:extLst>
          </p:cNvPr>
          <p:cNvPicPr>
            <a:picLocks noChangeAspect="1"/>
          </p:cNvPicPr>
          <p:nvPr/>
        </p:nvPicPr>
        <p:blipFill>
          <a:blip r:embed="rId3"/>
          <a:stretch>
            <a:fillRect/>
          </a:stretch>
        </p:blipFill>
        <p:spPr>
          <a:xfrm>
            <a:off x="6362089" y="3205114"/>
            <a:ext cx="5029636" cy="3415992"/>
          </a:xfrm>
          <a:prstGeom prst="rect">
            <a:avLst/>
          </a:prstGeom>
        </p:spPr>
      </p:pic>
    </p:spTree>
    <p:extLst>
      <p:ext uri="{BB962C8B-B14F-4D97-AF65-F5344CB8AC3E}">
        <p14:creationId xmlns:p14="http://schemas.microsoft.com/office/powerpoint/2010/main" val="2991032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C7B231-1A98-DB36-69A6-5CA81FB57387}"/>
              </a:ext>
            </a:extLst>
          </p:cNvPr>
          <p:cNvPicPr>
            <a:picLocks noChangeAspect="1"/>
          </p:cNvPicPr>
          <p:nvPr/>
        </p:nvPicPr>
        <p:blipFill>
          <a:blip r:embed="rId2"/>
          <a:stretch>
            <a:fillRect/>
          </a:stretch>
        </p:blipFill>
        <p:spPr>
          <a:xfrm>
            <a:off x="309288" y="208733"/>
            <a:ext cx="5182049" cy="4366638"/>
          </a:xfrm>
          <a:prstGeom prst="rect">
            <a:avLst/>
          </a:prstGeom>
        </p:spPr>
      </p:pic>
      <p:pic>
        <p:nvPicPr>
          <p:cNvPr id="7" name="Picture 6">
            <a:extLst>
              <a:ext uri="{FF2B5EF4-FFF2-40B4-BE49-F238E27FC236}">
                <a16:creationId xmlns:a16="http://schemas.microsoft.com/office/drawing/2014/main" id="{5BB0EF5F-70BE-E5F7-6C6E-2C59184FF906}"/>
              </a:ext>
            </a:extLst>
          </p:cNvPr>
          <p:cNvPicPr>
            <a:picLocks noChangeAspect="1"/>
          </p:cNvPicPr>
          <p:nvPr/>
        </p:nvPicPr>
        <p:blipFill>
          <a:blip r:embed="rId3"/>
          <a:stretch>
            <a:fillRect/>
          </a:stretch>
        </p:blipFill>
        <p:spPr>
          <a:xfrm>
            <a:off x="5590095" y="1398838"/>
            <a:ext cx="5763705" cy="5204911"/>
          </a:xfrm>
          <a:prstGeom prst="rect">
            <a:avLst/>
          </a:prstGeom>
        </p:spPr>
      </p:pic>
    </p:spTree>
    <p:extLst>
      <p:ext uri="{BB962C8B-B14F-4D97-AF65-F5344CB8AC3E}">
        <p14:creationId xmlns:p14="http://schemas.microsoft.com/office/powerpoint/2010/main" val="3126486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7A0C70B0-08DC-C93E-D987-2BF78EF2BB04}"/>
              </a:ext>
            </a:extLst>
          </p:cNvPr>
          <p:cNvPicPr>
            <a:picLocks noChangeAspect="1"/>
          </p:cNvPicPr>
          <p:nvPr/>
        </p:nvPicPr>
        <p:blipFill>
          <a:blip r:embed="rId3"/>
          <a:stretch>
            <a:fillRect/>
          </a:stretch>
        </p:blipFill>
        <p:spPr>
          <a:xfrm>
            <a:off x="263951" y="1008668"/>
            <a:ext cx="11670383" cy="55260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8" name="Google Shape;138;p9"/>
          <p:cNvSpPr txBox="1"/>
          <p:nvPr/>
        </p:nvSpPr>
        <p:spPr>
          <a:xfrm>
            <a:off x="475488" y="1289343"/>
            <a:ext cx="7726774" cy="4401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Agentic AI</a:t>
            </a:r>
            <a:r>
              <a:rPr lang="en-US" sz="1400" b="0" i="0" u="none" strike="noStrike" cap="none" dirty="0">
                <a:solidFill>
                  <a:srgbClr val="000000"/>
                </a:solidFill>
                <a:latin typeface="Arial"/>
                <a:ea typeface="Arial"/>
                <a:cs typeface="Arial"/>
                <a:sym typeface="Arial"/>
              </a:rPr>
              <a:t> enables the Farming advice to function as an intelligent, autonomous system rather than a simple chatbot. Using </a:t>
            </a:r>
            <a:r>
              <a:rPr lang="en-US" sz="1400" b="1" i="0" u="none" strike="noStrike" cap="none" dirty="0">
                <a:solidFill>
                  <a:srgbClr val="000000"/>
                </a:solidFill>
                <a:latin typeface="Arial"/>
                <a:ea typeface="Arial"/>
                <a:cs typeface="Arial"/>
                <a:sym typeface="Arial"/>
              </a:rPr>
              <a:t>IBM watsonx.ai</a:t>
            </a:r>
            <a:r>
              <a:rPr lang="en-US" sz="1400" b="0" i="0" u="none" strike="noStrike" cap="none" dirty="0">
                <a:solidFill>
                  <a:srgbClr val="000000"/>
                </a:solidFill>
                <a:latin typeface="Arial"/>
                <a:ea typeface="Arial"/>
                <a:cs typeface="Arial"/>
                <a:sym typeface="Arial"/>
              </a:rPr>
              <a:t> and </a:t>
            </a:r>
            <a:r>
              <a:rPr lang="en-US" sz="1400" b="1" i="0" u="none" strike="noStrike" cap="none" dirty="0">
                <a:solidFill>
                  <a:srgbClr val="000000"/>
                </a:solidFill>
                <a:latin typeface="Arial"/>
                <a:ea typeface="Arial"/>
                <a:cs typeface="Arial"/>
                <a:sym typeface="Arial"/>
              </a:rPr>
              <a:t>IBM Granite models</a:t>
            </a:r>
            <a:r>
              <a:rPr lang="en-US" sz="1400" b="0" i="0" u="none" strike="noStrike" cap="none" dirty="0">
                <a:solidFill>
                  <a:srgbClr val="000000"/>
                </a:solidFill>
                <a:latin typeface="Arial"/>
                <a:ea typeface="Arial"/>
                <a:cs typeface="Arial"/>
                <a:sym typeface="Arial"/>
              </a:rPr>
              <a:t>, it coordinates multiple specialized agents to deliver personalized nutrition guidance.</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Arial"/>
              <a:ea typeface="Arial"/>
              <a:cs typeface="Arial"/>
              <a:sym typeface="Arial"/>
            </a:endParaRPr>
          </a:p>
          <a:p>
            <a:pPr lvl="0"/>
            <a:r>
              <a:rPr lang="en-US" b="1" dirty="0"/>
              <a:t>Agent 1(pathology):</a:t>
            </a:r>
            <a:r>
              <a:rPr lang="en-US" dirty="0"/>
              <a:t>When a farmer inputs a query (e.g., </a:t>
            </a:r>
            <a:r>
              <a:rPr lang="en-US" i="1" dirty="0"/>
              <a:t>"My tomato leaves have dark brown spots with yellow rings"</a:t>
            </a:r>
            <a:r>
              <a:rPr lang="en-US" dirty="0"/>
              <a:t>), this agent assumes the role of a laboratory expert. It focuses purely on biological precision: identifying the exact pathogen, defining the botanical symptoms, and providing a rigorous list of organic and chemical treatments.</a:t>
            </a:r>
          </a:p>
          <a:p>
            <a:pPr lvl="0"/>
            <a:endParaRPr lang="en-US" dirty="0"/>
          </a:p>
          <a:p>
            <a:pPr lvl="0" algn="just"/>
            <a:r>
              <a:rPr lang="en-US" b="1" dirty="0"/>
              <a:t>Agent 2(extension officer):</a:t>
            </a:r>
            <a:r>
              <a:rPr lang="en-US" dirty="0"/>
              <a:t>This agent accepts the complex, highly technical output generated by the Plant Pathologist. Rather than showing that dense jargon directly to the farmer, it acts as a human translator. It rewrites the instructions into simple, localized language, maps out step-by-step instructions, and explicitly details what the farmer must do </a:t>
            </a:r>
            <a:r>
              <a:rPr lang="en-US" b="1" dirty="0"/>
              <a:t>in the next 24 to 48 hours</a:t>
            </a:r>
            <a:r>
              <a:rPr lang="en-US" dirty="0"/>
              <a:t> to salvage their crop.</a:t>
            </a:r>
          </a:p>
          <a:p>
            <a:pPr lvl="0"/>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This </a:t>
            </a:r>
            <a:r>
              <a:rPr lang="en-US" sz="1400" b="1" i="0" u="none" strike="noStrike" cap="none" dirty="0">
                <a:solidFill>
                  <a:srgbClr val="000000"/>
                </a:solidFill>
                <a:latin typeface="Arial"/>
                <a:ea typeface="Arial"/>
                <a:cs typeface="Arial"/>
                <a:sym typeface="Arial"/>
              </a:rPr>
              <a:t>multi-agent approach</a:t>
            </a:r>
            <a:r>
              <a:rPr lang="en-US" sz="1400" b="0" i="0" u="none" strike="noStrike" cap="none" dirty="0">
                <a:solidFill>
                  <a:srgbClr val="000000"/>
                </a:solidFill>
                <a:latin typeface="Arial"/>
                <a:ea typeface="Arial"/>
                <a:cs typeface="Arial"/>
                <a:sym typeface="Arial"/>
              </a:rPr>
              <a:t> ensures efficient task execution and accurate results.</a:t>
            </a:r>
            <a:endParaRPr dirty="0"/>
          </a:p>
          <a:p>
            <a:pPr marL="0" marR="0" lvl="0" indent="0" algn="l" rtl="0">
              <a:lnSpc>
                <a:spcPct val="100000"/>
              </a:lnSpc>
              <a:spcBef>
                <a:spcPts val="0"/>
              </a:spcBef>
              <a:spcAft>
                <a:spcPts val="0"/>
              </a:spcAft>
              <a:buNone/>
            </a:pPr>
            <a:endParaRPr lang="en-US"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Overall, Agentic AI makes the system proactive, personalized, and goal-driven, acting like a </a:t>
            </a:r>
            <a:r>
              <a:rPr lang="en-US" sz="1400" b="1" i="0" u="none" strike="noStrike" cap="none" dirty="0">
                <a:solidFill>
                  <a:srgbClr val="000000"/>
                </a:solidFill>
                <a:latin typeface="Arial"/>
                <a:ea typeface="Arial"/>
                <a:cs typeface="Arial"/>
                <a:sym typeface="Arial"/>
              </a:rPr>
              <a:t>smart farming </a:t>
            </a:r>
            <a:r>
              <a:rPr lang="en-US" sz="1400" b="0" i="0" u="none" strike="noStrike" cap="none" dirty="0">
                <a:solidFill>
                  <a:srgbClr val="000000"/>
                </a:solidFill>
                <a:latin typeface="Arial"/>
                <a:ea typeface="Arial"/>
                <a:cs typeface="Arial"/>
                <a:sym typeface="Arial"/>
              </a:rPr>
              <a:t>that helps farmers.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Langflow platform </a:t>
            </a:r>
            <a:r>
              <a:rPr lang="en-US" sz="1800" b="0" i="0" u="none" strike="noStrike" cap="none">
                <a:solidFill>
                  <a:srgbClr val="000000"/>
                </a:solidFill>
                <a:latin typeface="Arial"/>
                <a:ea typeface="Arial"/>
                <a:cs typeface="Arial"/>
                <a:sym typeface="Arial"/>
              </a:rPr>
              <a:t>-For designing and orchestrating multi-agent workflows visually</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Grainte model </a:t>
            </a:r>
            <a:r>
              <a:rPr lang="en-US" sz="1800" b="0" i="0" u="none" strike="noStrike" cap="none">
                <a:solidFill>
                  <a:srgbClr val="000000"/>
                </a:solidFill>
                <a:latin typeface="Arial"/>
                <a:ea typeface="Arial"/>
                <a:cs typeface="Arial"/>
                <a:sym typeface="Arial"/>
              </a:rPr>
              <a:t>-  for eg – ibm-granite-3-2-8b – For natural language understanding, reasoning, and personalization</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Cloud </a:t>
            </a:r>
            <a:r>
              <a:rPr lang="en-US" sz="1800" b="0" i="0" u="none" strike="noStrike" cap="none">
                <a:solidFill>
                  <a:srgbClr val="000000"/>
                </a:solidFill>
                <a:latin typeface="Arial"/>
                <a:ea typeface="Arial"/>
                <a:cs typeface="Arial"/>
                <a:sym typeface="Arial"/>
              </a:rPr>
              <a:t>– It provides the infrastructure to build, deploy, and scale the Nutrition Agent efficiently. IBM Cloud enables a </a:t>
            </a:r>
            <a:r>
              <a:rPr lang="en-US" sz="1800" b="1" i="0" u="none" strike="noStrike" cap="none">
                <a:solidFill>
                  <a:srgbClr val="000000"/>
                </a:solidFill>
                <a:latin typeface="Arial"/>
                <a:ea typeface="Arial"/>
                <a:cs typeface="Arial"/>
                <a:sym typeface="Arial"/>
              </a:rPr>
              <a:t>reliable, secure, and scalable environment</a:t>
            </a:r>
            <a:r>
              <a:rPr lang="en-US" sz="1800" b="0" i="0" u="none" strike="noStrike" cap="none">
                <a:solidFill>
                  <a:srgbClr val="000000"/>
                </a:solidFill>
                <a:latin typeface="Arial"/>
                <a:ea typeface="Arial"/>
                <a:cs typeface="Arial"/>
                <a:sym typeface="Arial"/>
              </a:rPr>
              <a:t> for deploying the Nutrition Agent.</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RAG– </a:t>
            </a:r>
            <a:r>
              <a:rPr lang="en-US" sz="1800" b="0" i="0" u="none" strike="noStrike" cap="none">
                <a:solidFill>
                  <a:srgbClr val="000000"/>
                </a:solidFill>
                <a:latin typeface="Arial"/>
                <a:ea typeface="Arial"/>
                <a:cs typeface="Arial"/>
                <a:sym typeface="Arial"/>
              </a:rPr>
              <a:t>RAG to </a:t>
            </a:r>
            <a:r>
              <a:rPr lang="en-US" sz="1800" b="1" i="0" u="none" strike="noStrike" cap="none">
                <a:solidFill>
                  <a:srgbClr val="000000"/>
                </a:solidFill>
                <a:latin typeface="Arial"/>
                <a:ea typeface="Arial"/>
                <a:cs typeface="Arial"/>
                <a:sym typeface="Arial"/>
              </a:rPr>
              <a:t>fetch real data first, then generate intelligent answers</a:t>
            </a:r>
            <a:r>
              <a:rPr lang="en-US" sz="1800" b="0" i="0" u="none" strike="noStrike" cap="none">
                <a:solidFill>
                  <a:srgbClr val="000000"/>
                </a:solidFill>
                <a:latin typeface="Arial"/>
                <a:ea typeface="Arial"/>
                <a:cs typeface="Arial"/>
                <a:sym typeface="Arial"/>
              </a:rPr>
              <a:t>, making the Nutrition Agent more trustworthy and effective.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Watsonx.ai - </a:t>
            </a:r>
            <a:r>
              <a:rPr lang="en-US" sz="1800" b="0" i="0" u="none" strike="noStrike" cap="none">
                <a:solidFill>
                  <a:srgbClr val="000000"/>
                </a:solidFill>
                <a:latin typeface="Arial"/>
                <a:ea typeface="Arial"/>
                <a:cs typeface="Arial"/>
                <a:sym typeface="Arial"/>
              </a:rPr>
              <a:t>For model deployment, embeddings, and AI governance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Vector Database </a:t>
            </a:r>
            <a:r>
              <a:rPr lang="en-US" sz="1800" b="0" i="0" u="none" strike="noStrike" cap="none">
                <a:solidFill>
                  <a:srgbClr val="000000"/>
                </a:solidFill>
                <a:latin typeface="Arial"/>
                <a:ea typeface="Arial"/>
                <a:cs typeface="Arial"/>
                <a:sym typeface="Arial"/>
              </a:rPr>
              <a:t>(FAISS/Chroma) – For RAG-based nutritional data retrieval</a:t>
            </a: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13323 token are used</a:t>
            </a:r>
            <a:endParaRPr dirty="0"/>
          </a:p>
        </p:txBody>
      </p:sp>
      <p:pic>
        <p:nvPicPr>
          <p:cNvPr id="3" name="Picture 2">
            <a:extLst>
              <a:ext uri="{FF2B5EF4-FFF2-40B4-BE49-F238E27FC236}">
                <a16:creationId xmlns:a16="http://schemas.microsoft.com/office/drawing/2014/main" id="{8214D2D0-F965-E0B8-597F-B77C9C777F7F}"/>
              </a:ext>
            </a:extLst>
          </p:cNvPr>
          <p:cNvPicPr>
            <a:picLocks noChangeAspect="1"/>
          </p:cNvPicPr>
          <p:nvPr/>
        </p:nvPicPr>
        <p:blipFill>
          <a:blip r:embed="rId3"/>
          <a:stretch>
            <a:fillRect/>
          </a:stretch>
        </p:blipFill>
        <p:spPr>
          <a:xfrm>
            <a:off x="989814" y="1349910"/>
            <a:ext cx="9181707" cy="51702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61" name="Google Shape;161;p41"/>
          <p:cNvSpPr txBox="1"/>
          <p:nvPr/>
        </p:nvSpPr>
        <p:spPr>
          <a:xfrm>
            <a:off x="777240" y="1207008"/>
            <a:ext cx="10421803" cy="5847714"/>
          </a:xfrm>
          <a:prstGeom prst="rect">
            <a:avLst/>
          </a:prstGeom>
          <a:noFill/>
          <a:ln>
            <a:noFill/>
          </a:ln>
        </p:spPr>
        <p:txBody>
          <a:bodyPr spcFirstLastPara="1" wrap="square" lIns="91425" tIns="45700" rIns="91425" bIns="45700" anchor="t" anchorCtr="0">
            <a:spAutoFit/>
          </a:bodyPr>
          <a:lstStyle/>
          <a:p>
            <a:r>
              <a:rPr lang="en-US" sz="1800" b="1" dirty="0"/>
              <a:t>1. Agentic AI-Based Agricultural Decision Making</a:t>
            </a:r>
          </a:p>
          <a:p>
            <a:r>
              <a:rPr lang="en-US" sz="1800" dirty="0"/>
              <a:t>Unlike traditional agricultural chatbots that rely on a single AI model, the proposed system employs an Agentic AI architecture where multiple specialized agents collaborate autonomously to solve complex farming problems. Crop Advisory Agent ,Weather &amp; Irrigation Agent ,Pest &amp; Disease Detection Agent.</a:t>
            </a:r>
          </a:p>
          <a:p>
            <a:endParaRPr lang="en-US" sz="1800" dirty="0"/>
          </a:p>
          <a:p>
            <a:r>
              <a:rPr lang="en-US" sz="1800" dirty="0"/>
              <a:t>This enables dynamic planning, reasoning, and task delegation rather than simple question answering.</a:t>
            </a:r>
          </a:p>
          <a:p>
            <a:endParaRPr lang="en-US" sz="1800" dirty="0"/>
          </a:p>
          <a:p>
            <a:r>
              <a:rPr lang="en-US" sz="1800" b="1" dirty="0"/>
              <a:t>2. Multi-Agent Collaboration with Intelligent Routing</a:t>
            </a:r>
          </a:p>
          <a:p>
            <a:r>
              <a:rPr lang="en-US" sz="1800" dirty="0"/>
              <a:t>The system automatically determines which agents are required based on the farmer's query and coordinates them in parallel.</a:t>
            </a:r>
          </a:p>
          <a:p>
            <a:endParaRPr lang="en-US" sz="1800" dirty="0"/>
          </a:p>
          <a:p>
            <a:r>
              <a:rPr lang="en-US" sz="1800" b="1" dirty="0"/>
              <a:t>3. RAG-Powered Agricultural Knowledge Engine</a:t>
            </a:r>
          </a:p>
          <a:p>
            <a:r>
              <a:rPr lang="en-US" sz="1800" dirty="0"/>
              <a:t>The solution combines IBM Granite Models with Retrieval-Augmented Generation (RAG) to provide accurate, explainable </a:t>
            </a:r>
            <a:r>
              <a:rPr lang="en-US" sz="1800" dirty="0" err="1"/>
              <a:t>recommendations.Agricultural</a:t>
            </a:r>
            <a:r>
              <a:rPr lang="en-US" sz="1800" dirty="0"/>
              <a:t> research documents ,Crop cultivation manuals Pest and disease </a:t>
            </a:r>
            <a:r>
              <a:rPr lang="en-US" sz="1800" dirty="0" err="1"/>
              <a:t>databases.This</a:t>
            </a:r>
            <a:r>
              <a:rPr lang="en-US" sz="1800" dirty="0"/>
              <a:t> reduces hallucinations and ensures reliable recommendations.</a:t>
            </a:r>
          </a:p>
          <a:p>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This makes the solution a </a:t>
            </a:r>
            <a:r>
              <a:rPr lang="en-US" sz="1800" b="1" i="0" u="none" strike="noStrike" cap="none" dirty="0">
                <a:solidFill>
                  <a:srgbClr val="000000"/>
                </a:solidFill>
                <a:latin typeface="Arial"/>
                <a:ea typeface="Arial"/>
                <a:cs typeface="Arial"/>
                <a:sym typeface="Arial"/>
              </a:rPr>
              <a:t>smart, adaptive, and proactive digital nutritionist</a:t>
            </a:r>
            <a:r>
              <a:rPr lang="en-US" sz="1800" b="0" i="0" u="none" strike="noStrike" cap="none" dirty="0">
                <a:solidFill>
                  <a:srgbClr val="000000"/>
                </a:solidFill>
                <a:latin typeface="Arial"/>
                <a:ea typeface="Arial"/>
                <a:cs typeface="Arial"/>
                <a:sym typeface="Arial"/>
              </a:rPr>
              <a:t>, not just a static diet recommendation tool.</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https://github.com/barkhasvit/Smart-Farming</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577701" y="3108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6" name="Google Shape;176;p43"/>
          <p:cNvSpPr/>
          <p:nvPr/>
        </p:nvSpPr>
        <p:spPr>
          <a:xfrm>
            <a:off x="754144" y="1221715"/>
            <a:ext cx="10916240" cy="4277001"/>
          </a:xfrm>
          <a:prstGeom prst="rect">
            <a:avLst/>
          </a:prstGeom>
          <a:noFill/>
          <a:ln>
            <a:noFill/>
          </a:ln>
        </p:spPr>
        <p:txBody>
          <a:bodyPr spcFirstLastPara="1" wrap="square" lIns="0" tIns="0" rIns="0" bIns="0" anchor="t" anchorCtr="0">
            <a:noAutofit/>
          </a:bodyPr>
          <a:lstStyle/>
          <a:p>
            <a:r>
              <a:rPr lang="en-US" sz="1850" b="1" i="0" u="none" strike="noStrike" cap="none" dirty="0">
                <a:solidFill>
                  <a:srgbClr val="2B3541"/>
                </a:solidFill>
                <a:latin typeface="Times New Roman"/>
                <a:ea typeface="Times New Roman"/>
                <a:cs typeface="Times New Roman"/>
                <a:sym typeface="Times New Roman"/>
              </a:rPr>
              <a:t>1.</a:t>
            </a:r>
            <a:r>
              <a:rPr lang="en-US" sz="2000" b="1" dirty="0"/>
              <a:t>AI Agent for Smart Farming Advice</a:t>
            </a:r>
            <a:r>
              <a:rPr lang="en-US" sz="2000" dirty="0"/>
              <a:t> can be extended into a comprehensive digital agriculture ecosystem by incorporating advanced AI, IoT, remote sensing, and predictive analytics capabilities.</a:t>
            </a:r>
          </a:p>
          <a:p>
            <a:r>
              <a:rPr lang="en-US" sz="2000" b="1" dirty="0"/>
              <a:t>1. IoT-Based Smart Farm Monitoring</a:t>
            </a:r>
          </a:p>
          <a:p>
            <a:r>
              <a:rPr lang="en-US" sz="2000" dirty="0"/>
              <a:t>Integrate IoT sensors to collect real-time data </a:t>
            </a:r>
            <a:r>
              <a:rPr lang="en-US" sz="2000" dirty="0" err="1"/>
              <a:t>on:Soil</a:t>
            </a:r>
            <a:r>
              <a:rPr lang="en-US" sz="2000" dirty="0"/>
              <a:t> moisture ,Soil pH ,Temperature ,Humidity ,Nutrient levels  This will enable automated and data-driven irrigation and nutrient management.</a:t>
            </a:r>
          </a:p>
          <a:p>
            <a:r>
              <a:rPr lang="en-US" sz="2000" b="1" dirty="0"/>
              <a:t>2. Drone and Satellite-Based Crop Monitoring</a:t>
            </a:r>
          </a:p>
          <a:p>
            <a:r>
              <a:rPr lang="en-US" sz="2000" dirty="0"/>
              <a:t>Leverage drones and satellite imagery </a:t>
            </a:r>
            <a:r>
              <a:rPr lang="en-US" sz="2000" dirty="0" err="1"/>
              <a:t>to:Detect</a:t>
            </a:r>
            <a:r>
              <a:rPr lang="en-US" sz="2000" dirty="0"/>
              <a:t> crop stress ,Monitor crop growth stages ,Identify pest infestations early ,Estimate crop health at field scale ,This would improve precision agriculture practices.</a:t>
            </a:r>
          </a:p>
          <a:p>
            <a:r>
              <a:rPr lang="en-US" sz="2000" b="1" dirty="0"/>
              <a:t>3. Predictive Disease and Pest Outbreak Forecasting</a:t>
            </a:r>
          </a:p>
          <a:p>
            <a:r>
              <a:rPr lang="en-US" sz="2000" dirty="0"/>
              <a:t>Use historical weather, soil, and disease data to </a:t>
            </a:r>
            <a:r>
              <a:rPr lang="en-US" sz="2000" dirty="0" err="1"/>
              <a:t>predict:Disease</a:t>
            </a:r>
            <a:r>
              <a:rPr lang="en-US" sz="2000" dirty="0"/>
              <a:t> outbreaks ,Pest infestations ,Yield losses ,allowing farmers to take preventive measures before damage occurs.</a:t>
            </a:r>
          </a:p>
          <a:p>
            <a:r>
              <a:rPr lang="en-US" sz="2000" b="1" dirty="0"/>
              <a:t>4. AI-Powered Yield Prediction</a:t>
            </a:r>
          </a:p>
          <a:p>
            <a:r>
              <a:rPr lang="en-US" sz="2000" dirty="0"/>
              <a:t>Develop machine learning models that estimate crop yield based </a:t>
            </a:r>
            <a:r>
              <a:rPr lang="en-US" sz="2000" dirty="0" err="1"/>
              <a:t>on:Weather</a:t>
            </a:r>
            <a:r>
              <a:rPr lang="en-US" sz="2000" dirty="0"/>
              <a:t> conditions ,Soil health ,Crop variety ,Cultivation practices</a:t>
            </a:r>
          </a:p>
          <a:p>
            <a:endParaRPr lang="en-US" sz="2000" b="1" dirty="0"/>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1499</Words>
  <Application>Microsoft Office PowerPoint</Application>
  <PresentationFormat>Widescreen</PresentationFormat>
  <Paragraphs>144</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Dr.Barkha Joshi</cp:lastModifiedBy>
  <cp:revision>21</cp:revision>
  <dcterms:created xsi:type="dcterms:W3CDTF">2025-07-08T05:06:56Z</dcterms:created>
  <dcterms:modified xsi:type="dcterms:W3CDTF">2026-06-11T09:06:18Z</dcterms:modified>
</cp:coreProperties>
</file>